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6"/>
  </p:notesMasterIdLst>
  <p:sldIdLst>
    <p:sldId id="256" r:id="rId2"/>
    <p:sldId id="257" r:id="rId3"/>
    <p:sldId id="267" r:id="rId4"/>
    <p:sldId id="258" r:id="rId5"/>
    <p:sldId id="259" r:id="rId6"/>
    <p:sldId id="260" r:id="rId7"/>
    <p:sldId id="261" r:id="rId8"/>
    <p:sldId id="269" r:id="rId9"/>
    <p:sldId id="262" r:id="rId10"/>
    <p:sldId id="263" r:id="rId11"/>
    <p:sldId id="264" r:id="rId12"/>
    <p:sldId id="266" r:id="rId13"/>
    <p:sldId id="270" r:id="rId14"/>
    <p:sldId id="271" r:id="rId1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220" autoAdjust="0"/>
  </p:normalViewPr>
  <p:slideViewPr>
    <p:cSldViewPr snapToGrid="0" snapToObjects="1">
      <p:cViewPr varScale="1">
        <p:scale>
          <a:sx n="110" d="100"/>
          <a:sy n="110" d="100"/>
        </p:scale>
        <p:origin x="558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69F7E2-773A-49BD-9D0E-ADB9024B1715}" type="datetimeFigureOut">
              <a:rPr lang="zh-TW" altLang="en-US" smtClean="0"/>
              <a:t>2025/10/21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473FB7-7636-4512-BD12-FC5C6FB4F73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503034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88825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6675" y="2404534"/>
            <a:ext cx="7764913" cy="1646302"/>
          </a:xfrm>
        </p:spPr>
        <p:txBody>
          <a:bodyPr anchor="b">
            <a:noAutofit/>
          </a:bodyPr>
          <a:lstStyle>
            <a:lvl1pPr algn="r">
              <a:defRPr sz="5398">
                <a:solidFill>
                  <a:schemeClr val="accent1"/>
                </a:solidFill>
              </a:defRPr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6675" y="4050834"/>
            <a:ext cx="7764913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0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1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25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3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5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 smtClean="0"/>
              <a:t>按一下以編輯母片副標題樣式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1037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599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7649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159" y="2700868"/>
            <a:ext cx="8594429" cy="1826581"/>
          </a:xfrm>
        </p:spPr>
        <p:txBody>
          <a:bodyPr anchor="b"/>
          <a:lstStyle>
            <a:lvl1pPr algn="l">
              <a:defRPr sz="3999" b="0" cap="none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159" y="4527448"/>
            <a:ext cx="8594429" cy="860400"/>
          </a:xfrm>
        </p:spPr>
        <p:txBody>
          <a:bodyPr anchor="t"/>
          <a:lstStyle>
            <a:lvl1pPr marL="0" indent="0" algn="l">
              <a:buNone/>
              <a:defRPr sz="1999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7220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158" y="2160589"/>
            <a:ext cx="4182945" cy="3880772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8645" y="2160590"/>
            <a:ext cx="4182944" cy="3880773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14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570" y="2160983"/>
            <a:ext cx="4184533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/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570" y="2737246"/>
            <a:ext cx="4184533" cy="3304117"/>
          </a:xfrm>
        </p:spPr>
        <p:txBody>
          <a:bodyPr>
            <a:normAutofit/>
          </a:bodyPr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7058" y="2160983"/>
            <a:ext cx="4184528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/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7059" y="2737246"/>
            <a:ext cx="4184527" cy="3304117"/>
          </a:xfrm>
        </p:spPr>
        <p:txBody>
          <a:bodyPr>
            <a:normAutofit/>
          </a:bodyPr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1380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158" y="609600"/>
            <a:ext cx="8594429" cy="1320800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3956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398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158" y="1498604"/>
            <a:ext cx="3853524" cy="1278466"/>
          </a:xfrm>
        </p:spPr>
        <p:txBody>
          <a:bodyPr anchor="b">
            <a:normAutofit/>
          </a:bodyPr>
          <a:lstStyle>
            <a:lvl1pPr>
              <a:defRPr sz="1999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59222" y="514925"/>
            <a:ext cx="4512366" cy="5526437"/>
          </a:xfrm>
        </p:spPr>
        <p:txBody>
          <a:bodyPr>
            <a:normAutofit/>
          </a:bodyPr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158" y="2777069"/>
            <a:ext cx="3853524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6926" indent="0">
              <a:buNone/>
              <a:defRPr sz="1400"/>
            </a:lvl2pPr>
            <a:lvl3pPr marL="913852" indent="0">
              <a:buNone/>
              <a:defRPr sz="1200"/>
            </a:lvl3pPr>
            <a:lvl4pPr marL="1370778" indent="0">
              <a:buNone/>
              <a:defRPr sz="1000"/>
            </a:lvl4pPr>
            <a:lvl5pPr marL="1827703" indent="0">
              <a:buNone/>
              <a:defRPr sz="1000"/>
            </a:lvl5pPr>
            <a:lvl6pPr marL="2284628" indent="0">
              <a:buNone/>
              <a:defRPr sz="1000"/>
            </a:lvl6pPr>
            <a:lvl7pPr marL="2741554" indent="0">
              <a:buNone/>
              <a:defRPr sz="1000"/>
            </a:lvl7pPr>
            <a:lvl8pPr marL="3198480" indent="0">
              <a:buNone/>
              <a:defRPr sz="1000"/>
            </a:lvl8pPr>
            <a:lvl9pPr marL="3655406" indent="0">
              <a:buNone/>
              <a:defRPr sz="10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1888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158" y="4800600"/>
            <a:ext cx="8594428" cy="566738"/>
          </a:xfrm>
        </p:spPr>
        <p:txBody>
          <a:bodyPr anchor="b">
            <a:normAutofit/>
          </a:bodyPr>
          <a:lstStyle>
            <a:lvl1pPr algn="l">
              <a:defRPr sz="2399" b="0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158" y="609600"/>
            <a:ext cx="8594429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zh-TW" altLang="en-US" smtClean="0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158" y="5367338"/>
            <a:ext cx="8594428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7874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說明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159" y="609600"/>
            <a:ext cx="8594429" cy="3403600"/>
          </a:xfrm>
        </p:spPr>
        <p:txBody>
          <a:bodyPr anchor="ctr">
            <a:normAutofit/>
          </a:bodyPr>
          <a:lstStyle>
            <a:lvl1pPr algn="l">
              <a:defRPr sz="4399" b="0" cap="none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159" y="4470400"/>
            <a:ext cx="8594429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799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1118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標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092" y="609600"/>
            <a:ext cx="8092026" cy="3022600"/>
          </a:xfrm>
        </p:spPr>
        <p:txBody>
          <a:bodyPr anchor="ctr">
            <a:normAutofit/>
          </a:bodyPr>
          <a:lstStyle>
            <a:lvl1pPr algn="l">
              <a:defRPr sz="4399" b="0" cap="none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5783" y="3632200"/>
            <a:ext cx="7222643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063" indent="0">
              <a:buFontTx/>
              <a:buNone/>
              <a:defRPr/>
            </a:lvl2pPr>
            <a:lvl3pPr marL="914126" indent="0">
              <a:buFontTx/>
              <a:buNone/>
              <a:defRPr/>
            </a:lvl3pPr>
            <a:lvl4pPr marL="1371189" indent="0">
              <a:buFontTx/>
              <a:buNone/>
              <a:defRPr/>
            </a:lvl4pPr>
            <a:lvl5pPr marL="1828251" indent="0">
              <a:buFontTx/>
              <a:buNone/>
              <a:defRPr/>
            </a:lvl5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159" y="4470400"/>
            <a:ext cx="8594429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799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729" y="790378"/>
            <a:ext cx="609441" cy="584776"/>
          </a:xfrm>
          <a:prstGeom prst="rect">
            <a:avLst/>
          </a:prstGeom>
        </p:spPr>
        <p:txBody>
          <a:bodyPr vert="horz" lIns="91416" tIns="45708" rIns="91416" bIns="45708" rtlCol="0" anchor="ctr">
            <a:noAutofit/>
          </a:bodyPr>
          <a:lstStyle/>
          <a:p>
            <a:pPr lvl="0"/>
            <a:r>
              <a:rPr lang="en-US" sz="7998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0695" y="2886556"/>
            <a:ext cx="609441" cy="584776"/>
          </a:xfrm>
          <a:prstGeom prst="rect">
            <a:avLst/>
          </a:prstGeom>
        </p:spPr>
        <p:txBody>
          <a:bodyPr vert="horz" lIns="91416" tIns="45708" rIns="91416" bIns="45708" rtlCol="0" anchor="ctr">
            <a:noAutofit/>
          </a:bodyPr>
          <a:lstStyle/>
          <a:p>
            <a:pPr lvl="0"/>
            <a:r>
              <a:rPr lang="en-US" sz="7998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799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129090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159" y="1931988"/>
            <a:ext cx="8594429" cy="2595460"/>
          </a:xfrm>
        </p:spPr>
        <p:txBody>
          <a:bodyPr anchor="b">
            <a:normAutofit/>
          </a:bodyPr>
          <a:lstStyle>
            <a:lvl1pPr algn="l">
              <a:defRPr sz="4399" b="0" cap="none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159" y="4527448"/>
            <a:ext cx="8594429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799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95856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092" y="609600"/>
            <a:ext cx="8092026" cy="3022600"/>
          </a:xfrm>
        </p:spPr>
        <p:txBody>
          <a:bodyPr anchor="ctr">
            <a:normAutofit/>
          </a:bodyPr>
          <a:lstStyle>
            <a:lvl1pPr algn="l">
              <a:defRPr sz="4399" b="0" cap="none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156" y="4013200"/>
            <a:ext cx="8594430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399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063" indent="0">
              <a:buFontTx/>
              <a:buNone/>
              <a:defRPr/>
            </a:lvl2pPr>
            <a:lvl3pPr marL="914126" indent="0">
              <a:buFontTx/>
              <a:buNone/>
              <a:defRPr/>
            </a:lvl3pPr>
            <a:lvl4pPr marL="1371189" indent="0">
              <a:buFontTx/>
              <a:buNone/>
              <a:defRPr/>
            </a:lvl4pPr>
            <a:lvl5pPr marL="1828251" indent="0">
              <a:buFontTx/>
              <a:buNone/>
              <a:defRPr/>
            </a:lvl5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159" y="4527448"/>
            <a:ext cx="8594429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799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729" y="790378"/>
            <a:ext cx="609441" cy="584776"/>
          </a:xfrm>
          <a:prstGeom prst="rect">
            <a:avLst/>
          </a:prstGeom>
        </p:spPr>
        <p:txBody>
          <a:bodyPr vert="horz" lIns="91416" tIns="45708" rIns="91416" bIns="45708" rtlCol="0" anchor="ctr">
            <a:noAutofit/>
          </a:bodyPr>
          <a:lstStyle/>
          <a:p>
            <a:pPr lvl="0"/>
            <a:r>
              <a:rPr lang="en-US" sz="7998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0695" y="2886556"/>
            <a:ext cx="609441" cy="584776"/>
          </a:xfrm>
          <a:prstGeom prst="rect">
            <a:avLst/>
          </a:prstGeom>
        </p:spPr>
        <p:txBody>
          <a:bodyPr vert="horz" lIns="91416" tIns="45708" rIns="91416" bIns="45708" rtlCol="0" anchor="ctr">
            <a:noAutofit/>
          </a:bodyPr>
          <a:lstStyle/>
          <a:p>
            <a:pPr lvl="0"/>
            <a:r>
              <a:rPr lang="en-US" sz="7998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4147428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621" y="609600"/>
            <a:ext cx="8585966" cy="3022600"/>
          </a:xfrm>
        </p:spPr>
        <p:txBody>
          <a:bodyPr anchor="ctr">
            <a:normAutofit/>
          </a:bodyPr>
          <a:lstStyle>
            <a:lvl1pPr algn="l">
              <a:defRPr sz="4399" b="0" cap="none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156" y="4013200"/>
            <a:ext cx="8594430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399">
                <a:solidFill>
                  <a:schemeClr val="accent1"/>
                </a:solidFill>
              </a:defRPr>
            </a:lvl1pPr>
            <a:lvl2pPr marL="457063" indent="0">
              <a:buFontTx/>
              <a:buNone/>
              <a:defRPr/>
            </a:lvl2pPr>
            <a:lvl3pPr marL="914126" indent="0">
              <a:buFontTx/>
              <a:buNone/>
              <a:defRPr/>
            </a:lvl3pPr>
            <a:lvl4pPr marL="1371189" indent="0">
              <a:buFontTx/>
              <a:buNone/>
              <a:defRPr/>
            </a:lvl4pPr>
            <a:lvl5pPr marL="1828251" indent="0">
              <a:buFontTx/>
              <a:buNone/>
              <a:defRPr/>
            </a:lvl5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159" y="4527448"/>
            <a:ext cx="8594429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799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105394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4522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5599" y="609600"/>
            <a:ext cx="1304403" cy="5251451"/>
          </a:xfrm>
        </p:spPr>
        <p:txBody>
          <a:bodyPr vert="eaVert" anchor="ctr"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159" y="609600"/>
            <a:ext cx="7058311" cy="5251450"/>
          </a:xfrm>
        </p:spPr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4327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88825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158" y="609600"/>
            <a:ext cx="8594429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158" y="2160590"/>
            <a:ext cx="8594429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3257" y="6041363"/>
            <a:ext cx="91170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158" y="6041363"/>
            <a:ext cx="62959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88426" y="6041363"/>
            <a:ext cx="68316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2305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063" rtl="0" eaLnBrk="1" latinLnBrk="0" hangingPunct="1">
        <a:spcBef>
          <a:spcPct val="0"/>
        </a:spcBef>
        <a:buNone/>
        <a:defRPr sz="3599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797" indent="-342797" algn="l" defTabSz="457063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799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727" indent="-285664" algn="l" defTabSz="457063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2657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599720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6783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3846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0908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7971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5034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004285" y="2743200"/>
            <a:ext cx="7878632" cy="769441"/>
          </a:xfrm>
          <a:prstGeom prst="rect">
            <a:avLst/>
          </a:prstGeom>
          <a:solidFill>
            <a:srgbClr val="00B050"/>
          </a:solidFill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66CC"/>
                </a:solidFill>
              </a:defRPr>
            </a:pPr>
            <a:r>
              <a:rPr lang="en-US" altLang="zh-TW" dirty="0" err="1" smtClean="0">
                <a:ln w="0"/>
                <a:solidFill>
                  <a:schemeClr val="tx1">
                    <a:lumMod val="95000"/>
                    <a:lumOff val="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Uber</a:t>
            </a:r>
            <a:r>
              <a:rPr lang="en-US" altLang="zh-TW" dirty="0" smtClean="0">
                <a:ln w="0"/>
                <a:solidFill>
                  <a:schemeClr val="tx1">
                    <a:lumMod val="95000"/>
                    <a:lumOff val="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altLang="zh-TW" dirty="0" err="1" smtClean="0">
                <a:ln w="0"/>
                <a:solidFill>
                  <a:schemeClr val="tx1">
                    <a:lumMod val="95000"/>
                    <a:lumOff val="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Cat</a:t>
            </a:r>
            <a:r>
              <a:rPr dirty="0" err="1" smtClean="0">
                <a:ln w="0"/>
                <a:solidFill>
                  <a:schemeClr val="tx1">
                    <a:lumMod val="95000"/>
                    <a:lumOff val="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外送平台系統操作手冊</a:t>
            </a:r>
            <a:endParaRPr dirty="0">
              <a:ln w="0"/>
              <a:solidFill>
                <a:schemeClr val="tx1">
                  <a:lumMod val="95000"/>
                  <a:lumOff val="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t>【登入介面】</a:t>
            </a:r>
          </a:p>
        </p:txBody>
      </p:sp>
      <p:pic>
        <p:nvPicPr>
          <p:cNvPr id="3" name="Picture 2" descr="螢幕擷取畫面 2025-10-20 1944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3512" y="1679652"/>
            <a:ext cx="4343400" cy="321816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669280"/>
            <a:ext cx="6563015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003366"/>
                </a:solidFill>
              </a:defRPr>
            </a:pPr>
            <a:r>
              <a:rPr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b="1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輸入</a:t>
            </a:r>
            <a:r>
              <a:rPr lang="en-US" b="1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Gmail</a:t>
            </a:r>
            <a:r>
              <a:rPr lang="en-US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/</a:t>
            </a:r>
            <a:r>
              <a:rPr lang="zh-TW" altLang="en-US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管理員帳號跟</a:t>
            </a:r>
            <a:r>
              <a:rPr b="1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密碼登入系統</a:t>
            </a:r>
            <a:endParaRPr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000">
                <a:solidFill>
                  <a:srgbClr val="003366"/>
                </a:solidFill>
              </a:defRPr>
            </a:pPr>
            <a:r>
              <a:rPr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可</a:t>
            </a:r>
            <a:r>
              <a:rPr lang="zh-TW" altLang="en-US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透過</a:t>
            </a:r>
            <a:r>
              <a:rPr lang="en-US" altLang="zh-TW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Gmail/</a:t>
            </a:r>
            <a:r>
              <a:rPr lang="zh-TW" altLang="en-US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管理員</a:t>
            </a:r>
            <a:r>
              <a:rPr lang="zh-TW" altLang="en-US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帳號判斷並</a:t>
            </a:r>
            <a:r>
              <a:rPr b="1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切換管理員或會員登入</a:t>
            </a:r>
            <a:endParaRPr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5225" y="665886"/>
            <a:ext cx="3418884" cy="323817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0048" y="427011"/>
            <a:ext cx="4714895" cy="4806225"/>
          </a:xfrm>
          <a:prstGeom prst="rect">
            <a:avLst/>
          </a:prstGeom>
        </p:spPr>
      </p:pic>
      <p:cxnSp>
        <p:nvCxnSpPr>
          <p:cNvPr id="6" name="直線單箭頭接點 5"/>
          <p:cNvCxnSpPr/>
          <p:nvPr/>
        </p:nvCxnSpPr>
        <p:spPr>
          <a:xfrm>
            <a:off x="1572768" y="1700784"/>
            <a:ext cx="1837944" cy="219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字方塊 7"/>
          <p:cNvSpPr txBox="1"/>
          <p:nvPr/>
        </p:nvSpPr>
        <p:spPr>
          <a:xfrm>
            <a:off x="0" y="1335465"/>
            <a:ext cx="1959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600" b="1" dirty="0"/>
              <a:t>輸入</a:t>
            </a:r>
            <a:r>
              <a:rPr lang="en-US" altLang="zh-TW" sz="1600" b="1" dirty="0" smtClean="0"/>
              <a:t>2~20 </a:t>
            </a:r>
            <a:r>
              <a:rPr lang="zh-TW" altLang="en-US" sz="1600" b="1" dirty="0"/>
              <a:t>個中</a:t>
            </a:r>
            <a:r>
              <a:rPr lang="zh-TW" altLang="en-US" sz="1600" b="1" dirty="0" smtClean="0"/>
              <a:t>英文</a:t>
            </a:r>
            <a:endParaRPr lang="en-US" altLang="zh-TW" sz="1600" b="1" dirty="0" smtClean="0"/>
          </a:p>
          <a:p>
            <a:pPr algn="ctr"/>
            <a:r>
              <a:rPr lang="zh-TW" altLang="en-US" sz="1600" b="1" dirty="0" smtClean="0"/>
              <a:t>或</a:t>
            </a:r>
            <a:r>
              <a:rPr lang="zh-TW" altLang="en-US" sz="1600" b="1" dirty="0"/>
              <a:t>數字字符</a:t>
            </a:r>
            <a:endParaRPr lang="zh-TW" altLang="en-US" sz="1600" dirty="0"/>
          </a:p>
        </p:txBody>
      </p:sp>
      <p:cxnSp>
        <p:nvCxnSpPr>
          <p:cNvPr id="9" name="直線單箭頭接點 8"/>
          <p:cNvCxnSpPr/>
          <p:nvPr/>
        </p:nvCxnSpPr>
        <p:spPr>
          <a:xfrm>
            <a:off x="1572768" y="2358490"/>
            <a:ext cx="183794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字方塊 9"/>
          <p:cNvSpPr txBox="1"/>
          <p:nvPr/>
        </p:nvSpPr>
        <p:spPr>
          <a:xfrm>
            <a:off x="-1" y="2162448"/>
            <a:ext cx="19591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600" b="1" dirty="0" smtClean="0"/>
              <a:t>輸入</a:t>
            </a:r>
            <a:r>
              <a:rPr lang="en-US" altLang="zh-TW" sz="1600" b="1" dirty="0" smtClean="0"/>
              <a:t>Gmail</a:t>
            </a:r>
            <a:endParaRPr lang="zh-TW" altLang="en-US" sz="1600" dirty="0"/>
          </a:p>
        </p:txBody>
      </p:sp>
      <p:cxnSp>
        <p:nvCxnSpPr>
          <p:cNvPr id="12" name="直線單箭頭接點 11"/>
          <p:cNvCxnSpPr/>
          <p:nvPr/>
        </p:nvCxnSpPr>
        <p:spPr>
          <a:xfrm flipV="1">
            <a:off x="6644460" y="1920240"/>
            <a:ext cx="2435532" cy="7955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橢圓 15"/>
          <p:cNvSpPr/>
          <p:nvPr/>
        </p:nvSpPr>
        <p:spPr>
          <a:xfrm>
            <a:off x="9079992" y="1536192"/>
            <a:ext cx="841248" cy="384048"/>
          </a:xfrm>
          <a:prstGeom prst="ellipse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9" name="直線單箭頭接點 18"/>
          <p:cNvCxnSpPr>
            <a:stCxn id="21" idx="3"/>
          </p:cNvCxnSpPr>
          <p:nvPr/>
        </p:nvCxnSpPr>
        <p:spPr>
          <a:xfrm flipV="1">
            <a:off x="2262157" y="3611880"/>
            <a:ext cx="1148554" cy="1341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字方塊 20"/>
          <p:cNvSpPr txBox="1"/>
          <p:nvPr/>
        </p:nvSpPr>
        <p:spPr>
          <a:xfrm>
            <a:off x="-1" y="3422901"/>
            <a:ext cx="22621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/>
              <a:t>輸入</a:t>
            </a:r>
            <a:r>
              <a:rPr lang="zh-TW" altLang="en-US" b="1" dirty="0" smtClean="0"/>
              <a:t>包含</a:t>
            </a:r>
            <a:r>
              <a:rPr lang="zh-TW" altLang="en-US" b="1" dirty="0"/>
              <a:t>字母與</a:t>
            </a:r>
            <a:r>
              <a:rPr lang="zh-TW" altLang="en-US" b="1" dirty="0" smtClean="0"/>
              <a:t>數字</a:t>
            </a:r>
            <a:endParaRPr lang="en-US" altLang="zh-TW" b="1" dirty="0" smtClean="0"/>
          </a:p>
          <a:p>
            <a:pPr algn="ctr"/>
            <a:r>
              <a:rPr lang="zh-TW" altLang="en-US" b="1" dirty="0" smtClean="0"/>
              <a:t>，</a:t>
            </a:r>
            <a:r>
              <a:rPr lang="zh-TW" altLang="en-US" b="1" dirty="0"/>
              <a:t>長度 </a:t>
            </a:r>
            <a:r>
              <a:rPr lang="en-US" altLang="zh-TW" b="1" dirty="0"/>
              <a:t>6~20</a:t>
            </a:r>
            <a:endParaRPr lang="zh-TW" altLang="en-US" dirty="0"/>
          </a:p>
        </p:txBody>
      </p:sp>
      <p:cxnSp>
        <p:nvCxnSpPr>
          <p:cNvPr id="24" name="直線單箭頭接點 23"/>
          <p:cNvCxnSpPr>
            <a:stCxn id="25" idx="3"/>
          </p:cNvCxnSpPr>
          <p:nvPr/>
        </p:nvCxnSpPr>
        <p:spPr>
          <a:xfrm flipV="1">
            <a:off x="2262158" y="4069232"/>
            <a:ext cx="1148554" cy="3231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字方塊 24"/>
          <p:cNvSpPr txBox="1"/>
          <p:nvPr/>
        </p:nvSpPr>
        <p:spPr>
          <a:xfrm>
            <a:off x="0" y="4069232"/>
            <a:ext cx="22621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b="1" dirty="0" smtClean="0"/>
              <a:t>輸入</a:t>
            </a:r>
            <a:r>
              <a:rPr lang="en-US" altLang="zh-TW" b="1" dirty="0" smtClean="0"/>
              <a:t>6</a:t>
            </a:r>
            <a:r>
              <a:rPr lang="zh-TW" altLang="en-US" b="1" dirty="0" smtClean="0"/>
              <a:t>個字以上的地址</a:t>
            </a:r>
            <a:endParaRPr lang="zh-TW" altLang="en-US" dirty="0"/>
          </a:p>
        </p:txBody>
      </p:sp>
      <p:sp>
        <p:nvSpPr>
          <p:cNvPr id="27" name="文字方塊 26"/>
          <p:cNvSpPr txBox="1"/>
          <p:nvPr/>
        </p:nvSpPr>
        <p:spPr>
          <a:xfrm>
            <a:off x="8369537" y="4036011"/>
            <a:ext cx="22621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b="1" dirty="0" smtClean="0"/>
              <a:t>發送驗證碼到</a:t>
            </a:r>
            <a:r>
              <a:rPr lang="en-US" altLang="zh-TW" b="1" dirty="0"/>
              <a:t>Gmail</a:t>
            </a:r>
            <a:endParaRPr lang="zh-TW" altLang="en-US" dirty="0"/>
          </a:p>
          <a:p>
            <a:pPr algn="ctr"/>
            <a:endParaRPr lang="zh-TW" altLang="en-US" dirty="0"/>
          </a:p>
        </p:txBody>
      </p:sp>
      <p:sp>
        <p:nvSpPr>
          <p:cNvPr id="28" name="TextBox 1"/>
          <p:cNvSpPr txBox="1"/>
          <p:nvPr/>
        </p:nvSpPr>
        <p:spPr>
          <a:xfrm>
            <a:off x="-1" y="8703"/>
            <a:ext cx="264687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rPr dirty="0" smtClean="0"/>
              <a:t>【</a:t>
            </a:r>
            <a:r>
              <a:rPr lang="zh-TW" altLang="en-US" dirty="0"/>
              <a:t>註冊</a:t>
            </a:r>
            <a:r>
              <a:rPr dirty="0" err="1" smtClean="0"/>
              <a:t>介面</a:t>
            </a:r>
            <a:r>
              <a:rPr dirty="0"/>
              <a:t>】</a:t>
            </a:r>
          </a:p>
        </p:txBody>
      </p:sp>
    </p:spTree>
    <p:extLst>
      <p:ext uri="{BB962C8B-B14F-4D97-AF65-F5344CB8AC3E}">
        <p14:creationId xmlns:p14="http://schemas.microsoft.com/office/powerpoint/2010/main" val="10361417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264687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rPr dirty="0" smtClean="0"/>
              <a:t>【</a:t>
            </a:r>
            <a:r>
              <a:rPr lang="zh-TW" altLang="en-US" dirty="0"/>
              <a:t>商店</a:t>
            </a:r>
            <a:r>
              <a:rPr dirty="0" err="1" smtClean="0"/>
              <a:t>介面</a:t>
            </a:r>
            <a:r>
              <a:rPr dirty="0"/>
              <a:t>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669280"/>
            <a:ext cx="3541354" cy="9848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2000">
                <a:solidFill>
                  <a:srgbClr val="003366"/>
                </a:solidFill>
              </a:defRPr>
            </a:pPr>
            <a:r>
              <a:rPr b="1" dirty="0"/>
              <a:t>• </a:t>
            </a:r>
            <a:r>
              <a:rPr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瀏覽</a:t>
            </a:r>
            <a:r>
              <a:rPr lang="zh-TW" altLang="en-US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商品並透過*</a:t>
            </a:r>
            <a:r>
              <a:rPr lang="en-US" altLang="zh-TW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/-</a:t>
            </a:r>
            <a:r>
              <a:rPr lang="zh-TW" altLang="en-US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調整數量</a:t>
            </a:r>
            <a:endParaRPr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000">
                <a:solidFill>
                  <a:srgbClr val="003366"/>
                </a:solidFill>
              </a:defRPr>
            </a:pPr>
            <a:r>
              <a:rPr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點擊加入購物車</a:t>
            </a:r>
            <a:endParaRPr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247" y="731520"/>
            <a:ext cx="6601969" cy="5159647"/>
          </a:xfrm>
          <a:prstGeom prst="rect">
            <a:avLst/>
          </a:prstGeom>
        </p:spPr>
      </p:pic>
      <p:cxnSp>
        <p:nvCxnSpPr>
          <p:cNvPr id="6" name="直線單箭頭接點 5"/>
          <p:cNvCxnSpPr>
            <a:endCxn id="7" idx="2"/>
          </p:cNvCxnSpPr>
          <p:nvPr/>
        </p:nvCxnSpPr>
        <p:spPr>
          <a:xfrm>
            <a:off x="1664208" y="1664208"/>
            <a:ext cx="2103120" cy="1920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橢圓 6"/>
          <p:cNvSpPr/>
          <p:nvPr/>
        </p:nvSpPr>
        <p:spPr>
          <a:xfrm>
            <a:off x="3767328" y="1664208"/>
            <a:ext cx="841248" cy="384048"/>
          </a:xfrm>
          <a:prstGeom prst="ellipse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文字方塊 11"/>
          <p:cNvSpPr txBox="1"/>
          <p:nvPr/>
        </p:nvSpPr>
        <p:spPr>
          <a:xfrm>
            <a:off x="25365" y="1316736"/>
            <a:ext cx="166263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 smtClean="0"/>
              <a:t>可篩選</a:t>
            </a:r>
            <a:r>
              <a:rPr lang="en-US" altLang="zh-TW" b="1" dirty="0" smtClean="0"/>
              <a:t>"</a:t>
            </a:r>
            <a:r>
              <a:rPr lang="zh-TW" altLang="en-US" b="1" dirty="0" smtClean="0"/>
              <a:t>藥品</a:t>
            </a:r>
            <a:r>
              <a:rPr lang="en-US" altLang="zh-TW" b="1" dirty="0" smtClean="0"/>
              <a:t>",</a:t>
            </a:r>
            <a:r>
              <a:rPr lang="zh-TW" altLang="en-US" b="1" dirty="0" smtClean="0"/>
              <a:t> </a:t>
            </a:r>
            <a:endParaRPr lang="en-US" altLang="zh-TW" b="1" dirty="0" smtClean="0"/>
          </a:p>
          <a:p>
            <a:r>
              <a:rPr lang="zh-TW" altLang="en-US" b="1" dirty="0" smtClean="0"/>
              <a:t>          </a:t>
            </a:r>
            <a:r>
              <a:rPr lang="en-US" altLang="zh-TW" b="1" dirty="0" smtClean="0"/>
              <a:t>"</a:t>
            </a:r>
            <a:r>
              <a:rPr lang="zh-TW" altLang="en-US" b="1" dirty="0" smtClean="0"/>
              <a:t>工具</a:t>
            </a:r>
            <a:r>
              <a:rPr lang="en-US" altLang="zh-TW" b="1" dirty="0" smtClean="0"/>
              <a:t>",</a:t>
            </a:r>
            <a:r>
              <a:rPr lang="zh-TW" altLang="en-US" b="1" dirty="0" smtClean="0"/>
              <a:t> </a:t>
            </a:r>
            <a:endParaRPr lang="en-US" altLang="zh-TW" b="1" dirty="0" smtClean="0"/>
          </a:p>
          <a:p>
            <a:r>
              <a:rPr lang="zh-TW" altLang="en-US" b="1" dirty="0"/>
              <a:t>          </a:t>
            </a:r>
            <a:r>
              <a:rPr lang="en-US" altLang="zh-TW" b="1" dirty="0" smtClean="0"/>
              <a:t>"</a:t>
            </a:r>
            <a:r>
              <a:rPr lang="zh-TW" altLang="en-US" b="1" dirty="0"/>
              <a:t>食材</a:t>
            </a:r>
            <a:r>
              <a:rPr lang="en-US" altLang="zh-TW" b="1" dirty="0"/>
              <a:t>",</a:t>
            </a:r>
            <a:r>
              <a:rPr lang="zh-TW" altLang="en-US" b="1" dirty="0"/>
              <a:t> </a:t>
            </a:r>
            <a:endParaRPr lang="en-US" altLang="zh-TW" b="1" dirty="0" smtClean="0"/>
          </a:p>
          <a:p>
            <a:r>
              <a:rPr lang="zh-TW" altLang="en-US" b="1" dirty="0" smtClean="0"/>
              <a:t>          </a:t>
            </a:r>
            <a:r>
              <a:rPr lang="en-US" altLang="zh-TW" b="1" dirty="0" smtClean="0"/>
              <a:t>"</a:t>
            </a:r>
            <a:r>
              <a:rPr lang="zh-TW" altLang="en-US" b="1" dirty="0"/>
              <a:t>子彈</a:t>
            </a:r>
            <a:r>
              <a:rPr lang="en-US" altLang="zh-TW" b="1" dirty="0"/>
              <a:t>"</a:t>
            </a:r>
            <a:endParaRPr lang="zh-TW" alt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t>【購物車介面】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9862" y="3328416"/>
            <a:ext cx="2191626" cy="10156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003366"/>
                </a:solidFill>
              </a:defRPr>
            </a:pPr>
            <a:r>
              <a:rPr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sz="200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檢視已選</a:t>
            </a:r>
            <a:r>
              <a:rPr lang="zh-TW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商品</a:t>
            </a:r>
            <a:endParaRPr sz="20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000">
                <a:solidFill>
                  <a:srgbClr val="003366"/>
                </a:solidFill>
              </a:defRPr>
            </a:pP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可</a:t>
            </a:r>
            <a:r>
              <a:rPr lang="zh-TW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點選商品</a:t>
            </a:r>
            <a:r>
              <a:rPr sz="200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刪除</a:t>
            </a:r>
            <a:endParaRPr sz="20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000">
                <a:solidFill>
                  <a:srgbClr val="003366"/>
                </a:solidFill>
              </a:defRPr>
            </a:pP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sz="2000" b="1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結帳</a:t>
            </a:r>
            <a:endParaRPr sz="20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5304" y="485969"/>
            <a:ext cx="7040880" cy="5525855"/>
          </a:xfrm>
          <a:prstGeom prst="rect">
            <a:avLst/>
          </a:prstGeom>
        </p:spPr>
      </p:pic>
      <p:sp>
        <p:nvSpPr>
          <p:cNvPr id="6" name="TextBox 3"/>
          <p:cNvSpPr txBox="1"/>
          <p:nvPr/>
        </p:nvSpPr>
        <p:spPr>
          <a:xfrm>
            <a:off x="6181344" y="6223473"/>
            <a:ext cx="3730508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003366"/>
                </a:solidFill>
              </a:defRPr>
            </a:pPr>
            <a:r>
              <a:rPr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可選現金支付或電子錢包支付</a:t>
            </a:r>
            <a:endParaRPr sz="20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7" name="圖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5318" y="5563021"/>
            <a:ext cx="1006883" cy="47130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305724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rPr dirty="0" smtClean="0"/>
              <a:t>【</a:t>
            </a:r>
            <a:r>
              <a:rPr lang="zh-TW" altLang="en-US" dirty="0" smtClean="0"/>
              <a:t>外送員指派</a:t>
            </a:r>
            <a:r>
              <a:rPr dirty="0" smtClean="0"/>
              <a:t>】</a:t>
            </a:r>
            <a:endParaRPr dirty="0"/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3519" y="954542"/>
            <a:ext cx="6072142" cy="4725056"/>
          </a:xfrm>
          <a:prstGeom prst="rect">
            <a:avLst/>
          </a:prstGeom>
        </p:spPr>
      </p:pic>
      <p:sp>
        <p:nvSpPr>
          <p:cNvPr id="7" name="TextBox 3"/>
          <p:cNvSpPr txBox="1"/>
          <p:nvPr/>
        </p:nvSpPr>
        <p:spPr>
          <a:xfrm>
            <a:off x="310896" y="2916960"/>
            <a:ext cx="20299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003366"/>
                </a:solidFill>
              </a:defRPr>
            </a:pPr>
            <a:r>
              <a:rPr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lang="zh-TW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選擇外送</a:t>
            </a: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員</a:t>
            </a:r>
            <a:endParaRPr sz="20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8" name="圖片 7"/>
          <p:cNvPicPr>
            <a:picLocks noChangeAspect="1"/>
          </p:cNvPicPr>
          <p:nvPr/>
        </p:nvPicPr>
        <p:blipFill rotWithShape="1">
          <a:blip r:embed="rId3"/>
          <a:srcRect t="18784" b="20570"/>
          <a:stretch/>
        </p:blipFill>
        <p:spPr>
          <a:xfrm>
            <a:off x="8149492" y="210312"/>
            <a:ext cx="3563972" cy="4864609"/>
          </a:xfrm>
          <a:prstGeom prst="rect">
            <a:avLst/>
          </a:prstGeom>
        </p:spPr>
      </p:pic>
      <p:sp>
        <p:nvSpPr>
          <p:cNvPr id="9" name="文字方塊 8"/>
          <p:cNvSpPr txBox="1"/>
          <p:nvPr/>
        </p:nvSpPr>
        <p:spPr>
          <a:xfrm>
            <a:off x="5870448" y="6068490"/>
            <a:ext cx="37994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指派完成後會寄送訂單明細道</a:t>
            </a:r>
            <a:r>
              <a:rPr lang="en-US" altLang="zh-TW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Gmail</a:t>
            </a:r>
            <a:endParaRPr lang="zh-TW" altLang="en-US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zh-TW" alt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t>【訂單查詢】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84813" y="1414974"/>
            <a:ext cx="322531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l"/>
              <a:defRPr sz="2000">
                <a:solidFill>
                  <a:srgbClr val="003366"/>
                </a:solidFill>
              </a:defRPr>
            </a:pPr>
            <a:r>
              <a:rPr sz="2000" b="1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查看歷史訂單紀錄</a:t>
            </a:r>
            <a:endParaRPr lang="en-US" sz="20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342900" indent="-342900">
              <a:buFont typeface="Wingdings" panose="05000000000000000000" pitchFamily="2" charset="2"/>
              <a:buChar char="l"/>
              <a:defRPr sz="2000">
                <a:solidFill>
                  <a:srgbClr val="003366"/>
                </a:solidFill>
              </a:defRPr>
            </a:pP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可透過訂單編號</a:t>
            </a:r>
            <a:r>
              <a:rPr lang="en-US" altLang="zh-TW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/</a:t>
            </a: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外送員  搜尋</a:t>
            </a:r>
            <a:endParaRPr lang="en-US" sz="20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342900" indent="-342900">
              <a:buFont typeface="Wingdings" panose="05000000000000000000" pitchFamily="2" charset="2"/>
              <a:buChar char="l"/>
              <a:defRPr sz="2000">
                <a:solidFill>
                  <a:srgbClr val="003366"/>
                </a:solidFill>
              </a:defRPr>
            </a:pP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查看訂單細項</a:t>
            </a:r>
            <a:endParaRPr sz="20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0501" y="886697"/>
            <a:ext cx="6296107" cy="4933252"/>
          </a:xfrm>
          <a:prstGeom prst="rect">
            <a:avLst/>
          </a:prstGeom>
        </p:spPr>
      </p:pic>
      <p:pic>
        <p:nvPicPr>
          <p:cNvPr id="6" name="圖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3786512"/>
            <a:ext cx="3415188" cy="2811362"/>
          </a:xfrm>
          <a:prstGeom prst="rect">
            <a:avLst/>
          </a:prstGeom>
        </p:spPr>
      </p:pic>
      <p:cxnSp>
        <p:nvCxnSpPr>
          <p:cNvPr id="8" name="直線單箭頭接點 7"/>
          <p:cNvCxnSpPr/>
          <p:nvPr/>
        </p:nvCxnSpPr>
        <p:spPr>
          <a:xfrm>
            <a:off x="6895619" y="1993392"/>
            <a:ext cx="2376397" cy="19385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圖片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8736" y="1668644"/>
            <a:ext cx="1006883" cy="47130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264687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rPr dirty="0"/>
              <a:t>【</a:t>
            </a:r>
            <a:r>
              <a:rPr dirty="0" err="1" smtClean="0"/>
              <a:t>訂單</a:t>
            </a:r>
            <a:r>
              <a:rPr lang="zh-TW" altLang="en-US" dirty="0" smtClean="0"/>
              <a:t>匯出</a:t>
            </a:r>
            <a:r>
              <a:rPr dirty="0" smtClean="0"/>
              <a:t>】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167982" y="1615029"/>
            <a:ext cx="322531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l"/>
              <a:defRPr sz="2000">
                <a:solidFill>
                  <a:srgbClr val="003366"/>
                </a:solidFill>
              </a:defRPr>
            </a:pP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匯出勾選的訂單</a:t>
            </a:r>
            <a:endParaRPr sz="20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4021" y="374904"/>
            <a:ext cx="7205589" cy="5548385"/>
          </a:xfrm>
          <a:prstGeom prst="rect">
            <a:avLst/>
          </a:prstGeom>
        </p:spPr>
      </p:pic>
      <p:pic>
        <p:nvPicPr>
          <p:cNvPr id="7" name="圖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1134" y="4078161"/>
            <a:ext cx="8007691" cy="2779839"/>
          </a:xfrm>
          <a:prstGeom prst="rect">
            <a:avLst/>
          </a:prstGeom>
        </p:spPr>
      </p:pic>
      <p:pic>
        <p:nvPicPr>
          <p:cNvPr id="9" name="圖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5130" y="2622528"/>
            <a:ext cx="2543530" cy="1228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67647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-24115" y="67943"/>
            <a:ext cx="264687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rPr dirty="0" smtClean="0"/>
              <a:t>【</a:t>
            </a:r>
            <a:r>
              <a:rPr lang="zh-TW" altLang="en-US" dirty="0" smtClean="0"/>
              <a:t>個人資料</a:t>
            </a:r>
            <a:r>
              <a:rPr dirty="0" smtClean="0"/>
              <a:t>】</a:t>
            </a:r>
            <a:endParaRPr dirty="0"/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2425" y="0"/>
            <a:ext cx="7115938" cy="5554295"/>
          </a:xfrm>
          <a:prstGeom prst="rect">
            <a:avLst/>
          </a:prstGeom>
        </p:spPr>
      </p:pic>
      <p:sp>
        <p:nvSpPr>
          <p:cNvPr id="6" name="TextBox 3"/>
          <p:cNvSpPr txBox="1"/>
          <p:nvPr/>
        </p:nvSpPr>
        <p:spPr>
          <a:xfrm>
            <a:off x="152627" y="661190"/>
            <a:ext cx="224759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l"/>
              <a:defRPr sz="2000">
                <a:solidFill>
                  <a:srgbClr val="003366"/>
                </a:solidFill>
              </a:defRPr>
            </a:pPr>
            <a:r>
              <a:rPr lang="zh-TW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修改個人</a:t>
            </a: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資料</a:t>
            </a:r>
            <a:endParaRPr lang="en-US" altLang="zh-TW" sz="20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342900" indent="-342900">
              <a:buFont typeface="Wingdings" panose="05000000000000000000" pitchFamily="2" charset="2"/>
              <a:buChar char="l"/>
              <a:defRPr sz="2000">
                <a:solidFill>
                  <a:srgbClr val="003366"/>
                </a:solidFill>
              </a:defRPr>
            </a:pPr>
            <a:r>
              <a:rPr lang="zh-TW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儲</a:t>
            </a: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值電子錢包</a:t>
            </a:r>
            <a:endParaRPr sz="20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7" name="文字方塊 6"/>
          <p:cNvSpPr txBox="1"/>
          <p:nvPr/>
        </p:nvSpPr>
        <p:spPr>
          <a:xfrm>
            <a:off x="1702824" y="2893783"/>
            <a:ext cx="22621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 smtClean="0"/>
              <a:t>先輸入正確的舊密碼</a:t>
            </a:r>
            <a:endParaRPr lang="en-US" altLang="zh-TW" b="1" dirty="0" smtClean="0"/>
          </a:p>
          <a:p>
            <a:r>
              <a:rPr lang="zh-TW" altLang="en-US" b="1" dirty="0"/>
              <a:t>再輸入新密碼</a:t>
            </a:r>
          </a:p>
        </p:txBody>
      </p:sp>
      <p:cxnSp>
        <p:nvCxnSpPr>
          <p:cNvPr id="8" name="直線單箭頭接點 7"/>
          <p:cNvCxnSpPr/>
          <p:nvPr/>
        </p:nvCxnSpPr>
        <p:spPr>
          <a:xfrm>
            <a:off x="3221954" y="3297364"/>
            <a:ext cx="2328454" cy="3793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單箭頭接點 8"/>
          <p:cNvCxnSpPr/>
          <p:nvPr/>
        </p:nvCxnSpPr>
        <p:spPr>
          <a:xfrm>
            <a:off x="3926477" y="3063240"/>
            <a:ext cx="1623931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圖片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9324" y="4452374"/>
            <a:ext cx="2810267" cy="1305107"/>
          </a:xfrm>
          <a:prstGeom prst="rect">
            <a:avLst/>
          </a:prstGeom>
        </p:spPr>
      </p:pic>
      <p:pic>
        <p:nvPicPr>
          <p:cNvPr id="18" name="圖片 17"/>
          <p:cNvPicPr>
            <a:picLocks noChangeAspect="1"/>
          </p:cNvPicPr>
          <p:nvPr/>
        </p:nvPicPr>
        <p:blipFill rotWithShape="1">
          <a:blip r:embed="rId4"/>
          <a:srcRect r="44790" b="63116"/>
          <a:stretch/>
        </p:blipFill>
        <p:spPr>
          <a:xfrm>
            <a:off x="4825887" y="5757481"/>
            <a:ext cx="2228804" cy="1009079"/>
          </a:xfrm>
          <a:prstGeom prst="rect">
            <a:avLst/>
          </a:prstGeom>
        </p:spPr>
      </p:pic>
      <p:cxnSp>
        <p:nvCxnSpPr>
          <p:cNvPr id="19" name="直線單箭頭接點 18"/>
          <p:cNvCxnSpPr/>
          <p:nvPr/>
        </p:nvCxnSpPr>
        <p:spPr>
          <a:xfrm flipH="1" flipV="1">
            <a:off x="4206240" y="5104927"/>
            <a:ext cx="136267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肘形接點 22"/>
          <p:cNvCxnSpPr>
            <a:endCxn id="18" idx="1"/>
          </p:cNvCxnSpPr>
          <p:nvPr/>
        </p:nvCxnSpPr>
        <p:spPr>
          <a:xfrm>
            <a:off x="3104078" y="5757481"/>
            <a:ext cx="1721809" cy="504540"/>
          </a:xfrm>
          <a:prstGeom prst="bentConnector3">
            <a:avLst>
              <a:gd name="adj1" fmla="val 167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/>
          <p:cNvSpPr txBox="1"/>
          <p:nvPr/>
        </p:nvSpPr>
        <p:spPr>
          <a:xfrm>
            <a:off x="2488423" y="1307541"/>
            <a:ext cx="28761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 smtClean="0"/>
              <a:t>修改</a:t>
            </a:r>
            <a:r>
              <a:rPr lang="en-US" altLang="zh-TW" b="1" dirty="0" smtClean="0"/>
              <a:t>Gmail</a:t>
            </a:r>
            <a:r>
              <a:rPr lang="zh-TW" altLang="en-US" b="1" dirty="0"/>
              <a:t>一</a:t>
            </a:r>
            <a:r>
              <a:rPr lang="zh-TW" altLang="en-US" b="1" dirty="0" smtClean="0"/>
              <a:t>樣會傳驗證碼</a:t>
            </a:r>
            <a:endParaRPr lang="zh-TW" altLang="en-US" b="1" dirty="0"/>
          </a:p>
        </p:txBody>
      </p:sp>
      <p:cxnSp>
        <p:nvCxnSpPr>
          <p:cNvPr id="13" name="直線單箭頭接點 12"/>
          <p:cNvCxnSpPr/>
          <p:nvPr/>
        </p:nvCxnSpPr>
        <p:spPr>
          <a:xfrm>
            <a:off x="4405227" y="2294189"/>
            <a:ext cx="1314086" cy="1164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圖片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067" y="1756908"/>
            <a:ext cx="2074794" cy="107220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t>【管理員登入】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28945"/>
            <a:ext cx="3352200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342900" indent="-342900">
              <a:buFont typeface="Wingdings" panose="05000000000000000000" pitchFamily="2" charset="2"/>
              <a:buChar char="l"/>
              <a:defRPr sz="2000">
                <a:solidFill>
                  <a:srgbClr val="003366"/>
                </a:solidFill>
              </a:defRPr>
            </a:pPr>
            <a:r>
              <a:rPr b="1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僅限管理員帳號登入後台</a:t>
            </a:r>
            <a:endParaRPr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9646" y="2071498"/>
            <a:ext cx="3629532" cy="27150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t>【商品管理】</a:t>
            </a:r>
          </a:p>
        </p:txBody>
      </p:sp>
      <p:pic>
        <p:nvPicPr>
          <p:cNvPr id="3" name="Picture 2" descr="螢幕擷取畫面 2025-10-20 20105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2688" y="292608"/>
            <a:ext cx="8229600" cy="54894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60604" y="5669280"/>
            <a:ext cx="3608680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342900" indent="-342900">
              <a:buFont typeface="Wingdings" panose="05000000000000000000" pitchFamily="2" charset="2"/>
              <a:buChar char="l"/>
              <a:defRPr sz="2000">
                <a:solidFill>
                  <a:srgbClr val="003366"/>
                </a:solidFill>
              </a:defRPr>
            </a:pPr>
            <a:r>
              <a:rPr b="1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新增</a:t>
            </a:r>
            <a:r>
              <a:rPr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、修改或刪除商品</a:t>
            </a:r>
            <a:endParaRPr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342900" indent="-342900">
              <a:buFont typeface="Wingdings" panose="05000000000000000000" pitchFamily="2" charset="2"/>
              <a:buChar char="l"/>
              <a:defRPr sz="2000">
                <a:solidFill>
                  <a:srgbClr val="003366"/>
                </a:solidFill>
              </a:defRPr>
            </a:pPr>
            <a:r>
              <a:rPr b="1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可上傳商品圖片與價格設定</a:t>
            </a:r>
            <a:endParaRPr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t>【外送員管理】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9286" y="2625690"/>
            <a:ext cx="3114955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342900" indent="-342900">
              <a:buFont typeface="Wingdings" panose="05000000000000000000" pitchFamily="2" charset="2"/>
              <a:buChar char="l"/>
              <a:defRPr sz="2000">
                <a:solidFill>
                  <a:srgbClr val="003366"/>
                </a:solidFill>
              </a:defRPr>
            </a:pPr>
            <a:r>
              <a:rPr b="1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新增</a:t>
            </a:r>
            <a:r>
              <a:rPr lang="en-US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/</a:t>
            </a:r>
            <a:r>
              <a:rPr lang="zh-TW" altLang="en-US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修改</a:t>
            </a:r>
            <a:r>
              <a:rPr lang="en-US" altLang="zh-TW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/</a:t>
            </a:r>
            <a:r>
              <a:rPr lang="zh-TW" altLang="en-US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刪除 </a:t>
            </a:r>
            <a:r>
              <a:rPr b="1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外送員</a:t>
            </a:r>
            <a:endParaRPr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7437" y="599200"/>
            <a:ext cx="7892563" cy="523811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1414" y="365760"/>
            <a:ext cx="8085266" cy="5374968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-84813" y="73372"/>
            <a:ext cx="3467616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rPr dirty="0" smtClean="0"/>
              <a:t>【</a:t>
            </a:r>
            <a:r>
              <a:rPr lang="zh-TW" altLang="en-US" dirty="0" smtClean="0"/>
              <a:t>後台</a:t>
            </a:r>
            <a:r>
              <a:rPr dirty="0" err="1" smtClean="0"/>
              <a:t>訂單查詢</a:t>
            </a:r>
            <a:r>
              <a:rPr dirty="0" smtClean="0"/>
              <a:t>】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-84813" y="1414974"/>
            <a:ext cx="3225314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l"/>
              <a:defRPr sz="2000">
                <a:solidFill>
                  <a:srgbClr val="003366"/>
                </a:solidFill>
              </a:defRPr>
            </a:pPr>
            <a:r>
              <a:rPr sz="2000" b="1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查看</a:t>
            </a: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所有會員</a:t>
            </a:r>
            <a:r>
              <a:rPr lang="zh-TW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的</a:t>
            </a:r>
            <a:r>
              <a:rPr sz="2000" b="1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訂單紀錄</a:t>
            </a:r>
            <a:endParaRPr lang="en-US" sz="20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342900" indent="-342900">
              <a:buFont typeface="Wingdings" panose="05000000000000000000" pitchFamily="2" charset="2"/>
              <a:buChar char="l"/>
              <a:defRPr sz="2000">
                <a:solidFill>
                  <a:srgbClr val="003366"/>
                </a:solidFill>
              </a:defRPr>
            </a:pP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可透過</a:t>
            </a:r>
            <a:r>
              <a:rPr lang="zh-TW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會員名稱</a:t>
            </a:r>
            <a:r>
              <a:rPr lang="en-US" altLang="zh-TW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/</a:t>
            </a: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外送員</a:t>
            </a:r>
            <a:r>
              <a:rPr lang="zh-TW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名稱</a:t>
            </a: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搜尋</a:t>
            </a:r>
            <a:endParaRPr lang="en-US" sz="20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342900" indent="-342900">
              <a:buFont typeface="Wingdings" panose="05000000000000000000" pitchFamily="2" charset="2"/>
              <a:buChar char="l"/>
              <a:defRPr sz="2000">
                <a:solidFill>
                  <a:srgbClr val="003366"/>
                </a:solidFill>
              </a:defRPr>
            </a:pP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查看訂單細項</a:t>
            </a:r>
            <a:endParaRPr sz="20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7" name="圖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7061" y="2783400"/>
            <a:ext cx="2876951" cy="4105848"/>
          </a:xfrm>
          <a:prstGeom prst="rect">
            <a:avLst/>
          </a:prstGeom>
        </p:spPr>
      </p:pic>
      <p:cxnSp>
        <p:nvCxnSpPr>
          <p:cNvPr id="8" name="直線單箭頭接點 7"/>
          <p:cNvCxnSpPr>
            <a:stCxn id="11" idx="2"/>
          </p:cNvCxnSpPr>
          <p:nvPr/>
        </p:nvCxnSpPr>
        <p:spPr>
          <a:xfrm>
            <a:off x="7868934" y="1468732"/>
            <a:ext cx="1417214" cy="13146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圖片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1192" y="890421"/>
            <a:ext cx="1235483" cy="578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2720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264687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rPr dirty="0"/>
              <a:t>【</a:t>
            </a:r>
            <a:r>
              <a:rPr dirty="0" err="1" smtClean="0"/>
              <a:t>訂單</a:t>
            </a:r>
            <a:r>
              <a:rPr lang="zh-TW" altLang="en-US" dirty="0" smtClean="0"/>
              <a:t>匯出</a:t>
            </a:r>
            <a:r>
              <a:rPr dirty="0" smtClean="0"/>
              <a:t>】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6263605" y="585849"/>
            <a:ext cx="322531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l"/>
              <a:defRPr sz="2000">
                <a:solidFill>
                  <a:srgbClr val="003366"/>
                </a:solidFill>
              </a:defRPr>
            </a:pP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匯出勾選的訂單</a:t>
            </a:r>
            <a:endParaRPr sz="20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 rotWithShape="1">
          <a:blip r:embed="rId2"/>
          <a:srcRect l="1080"/>
          <a:stretch/>
        </p:blipFill>
        <p:spPr>
          <a:xfrm>
            <a:off x="276045" y="1050570"/>
            <a:ext cx="8396302" cy="5639587"/>
          </a:xfrm>
          <a:prstGeom prst="rect">
            <a:avLst/>
          </a:prstGeom>
        </p:spPr>
      </p:pic>
      <p:pic>
        <p:nvPicPr>
          <p:cNvPr id="6" name="圖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6868" y="2485054"/>
            <a:ext cx="6764697" cy="3340911"/>
          </a:xfrm>
          <a:prstGeom prst="rect">
            <a:avLst/>
          </a:prstGeom>
        </p:spPr>
      </p:pic>
      <p:sp>
        <p:nvSpPr>
          <p:cNvPr id="8" name="文字方塊 7"/>
          <p:cNvSpPr txBox="1"/>
          <p:nvPr/>
        </p:nvSpPr>
        <p:spPr>
          <a:xfrm>
            <a:off x="10464187" y="6349635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匯出</a:t>
            </a:r>
            <a:r>
              <a:rPr lang="en-US" altLang="zh-TW" dirty="0"/>
              <a:t>Excel</a:t>
            </a:r>
            <a:endParaRPr lang="zh-TW" altLang="en-US" dirty="0"/>
          </a:p>
        </p:txBody>
      </p:sp>
      <p:cxnSp>
        <p:nvCxnSpPr>
          <p:cNvPr id="11" name="直線單箭頭接點 10"/>
          <p:cNvCxnSpPr>
            <a:stCxn id="8" idx="1"/>
          </p:cNvCxnSpPr>
          <p:nvPr/>
        </p:nvCxnSpPr>
        <p:spPr>
          <a:xfrm flipH="1" flipV="1">
            <a:off x="9269627" y="5825965"/>
            <a:ext cx="1194560" cy="708336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1190327"/>
      </p:ext>
    </p:extLst>
  </p:cSld>
  <p:clrMapOvr>
    <a:masterClrMapping/>
  </p:clrMapOvr>
</p:sld>
</file>

<file path=ppt/theme/theme1.xml><?xml version="1.0" encoding="utf-8"?>
<a:theme xmlns:a="http://schemas.openxmlformats.org/drawingml/2006/main" name="多面向">
  <a:themeElements>
    <a:clrScheme name="多面向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多面向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多面向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77</TotalTime>
  <Words>244</Words>
  <Application>Microsoft Office PowerPoint</Application>
  <PresentationFormat>自訂</PresentationFormat>
  <Paragraphs>54</Paragraphs>
  <Slides>14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14</vt:i4>
      </vt:variant>
    </vt:vector>
  </HeadingPairs>
  <TitlesOfParts>
    <vt:vector size="22" baseType="lpstr">
      <vt:lpstr>微軟正黑體</vt:lpstr>
      <vt:lpstr>新細明體</vt:lpstr>
      <vt:lpstr>Arial</vt:lpstr>
      <vt:lpstr>Calibri</vt:lpstr>
      <vt:lpstr>Trebuchet MS</vt:lpstr>
      <vt:lpstr>Wingdings</vt:lpstr>
      <vt:lpstr>Wingdings 3</vt:lpstr>
      <vt:lpstr>多面向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subject/>
  <dc:creator/>
  <cp:keywords/>
  <dc:description>generated using python-pptx</dc:description>
  <cp:lastModifiedBy>User</cp:lastModifiedBy>
  <cp:revision>11</cp:revision>
  <dcterms:created xsi:type="dcterms:W3CDTF">2013-01-27T09:14:16Z</dcterms:created>
  <dcterms:modified xsi:type="dcterms:W3CDTF">2025-10-20T16:27:43Z</dcterms:modified>
  <cp:category/>
</cp:coreProperties>
</file>